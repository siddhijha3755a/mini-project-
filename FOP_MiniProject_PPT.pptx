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Agrandir" panose="020B0604020202020204" charset="0"/>
      <p:regular r:id="rId21"/>
    </p:embeddedFont>
    <p:embeddedFont>
      <p:font typeface="Agrandir Bold" panose="020B0604020202020204" charset="0"/>
      <p:regular r:id="rId22"/>
    </p:embeddedFont>
    <p:embeddedFont>
      <p:font typeface="Agrandir Bold Italics" panose="020B0604020202020204" charset="0"/>
      <p:regular r:id="rId23"/>
    </p:embeddedFont>
    <p:embeddedFont>
      <p:font typeface="Agrandir Italics" panose="020B0604020202020204" charset="0"/>
      <p:regular r:id="rId24"/>
    </p:embeddedFont>
    <p:embeddedFont>
      <p:font typeface="Alice" panose="020B0604020202020204" charset="0"/>
      <p:regular r:id="rId25"/>
    </p:embeddedFont>
    <p:embeddedFont>
      <p:font typeface="Canva Sans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Canva Sans Bold Italics" panose="020B0604020202020204" charset="0"/>
      <p:regular r:id="rId28"/>
    </p:embeddedFont>
    <p:embeddedFont>
      <p:font typeface="Canva Sans Italics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670" y="-41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eeksforgeeks.org/cpp/errors-in-cc/" TargetMode="Externa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0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gif"/><Relationship Id="rId4" Type="http://schemas.openxmlformats.org/officeDocument/2006/relationships/image" Target="../media/image3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0800000">
            <a:off x="6333452" y="-1797179"/>
            <a:ext cx="15735219" cy="1388135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62265" y="1521775"/>
            <a:ext cx="16230600" cy="530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99"/>
              </a:lnSpc>
            </a:pPr>
            <a:r>
              <a:rPr lang="en-US" sz="89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Common errors in C Programming</a:t>
            </a:r>
          </a:p>
          <a:p>
            <a:pPr algn="ctr">
              <a:lnSpc>
                <a:spcPts val="9899"/>
              </a:lnSpc>
            </a:pPr>
            <a:r>
              <a:rPr lang="en-US" sz="89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&amp;</a:t>
            </a:r>
          </a:p>
          <a:p>
            <a:pPr algn="ctr">
              <a:lnSpc>
                <a:spcPts val="9899"/>
              </a:lnSpc>
            </a:pPr>
            <a:r>
              <a:rPr lang="en-US" sz="89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 How to fix them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848792"/>
            <a:ext cx="16230600" cy="262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GROUP MEMBERS:</a:t>
            </a:r>
          </a:p>
          <a:p>
            <a:pPr marL="528954" lvl="1" indent="-264477" algn="l">
              <a:lnSpc>
                <a:spcPts val="3429"/>
              </a:lnSpc>
              <a:buAutoNum type="arabicPeriod"/>
            </a:pPr>
            <a:r>
              <a:rPr lang="en-US" sz="24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VRUKSHITA VINOD (1262250376)</a:t>
            </a:r>
          </a:p>
          <a:p>
            <a:pPr marL="528954" lvl="1" indent="-264477" algn="l">
              <a:lnSpc>
                <a:spcPts val="3429"/>
              </a:lnSpc>
              <a:buAutoNum type="arabicPeriod"/>
            </a:pPr>
            <a:r>
              <a:rPr lang="en-US" sz="24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SIDDHI JHA (1262253755) </a:t>
            </a:r>
          </a:p>
          <a:p>
            <a:pPr marL="528954" lvl="1" indent="-264477" algn="l">
              <a:lnSpc>
                <a:spcPts val="3429"/>
              </a:lnSpc>
              <a:buAutoNum type="arabicPeriod"/>
            </a:pPr>
            <a:r>
              <a:rPr lang="en-US" sz="24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PALAK SONI (1262252891)</a:t>
            </a:r>
          </a:p>
          <a:p>
            <a:pPr marL="528954" lvl="1" indent="-264477" algn="l">
              <a:lnSpc>
                <a:spcPts val="3429"/>
              </a:lnSpc>
              <a:buAutoNum type="arabicPeriod"/>
            </a:pPr>
            <a:r>
              <a:rPr lang="en-US" sz="24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PRACHITI SURYAWANSHI (1262252177)</a:t>
            </a:r>
          </a:p>
          <a:p>
            <a:pPr marL="528954" lvl="1" indent="-264477" algn="l">
              <a:lnSpc>
                <a:spcPts val="3429"/>
              </a:lnSpc>
              <a:buAutoNum type="arabicPeriod"/>
            </a:pPr>
            <a:r>
              <a:rPr lang="en-US" sz="24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TANISH FIRODIYA (1262253209)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>
            <a:off x="-2318726" y="-376453"/>
            <a:ext cx="9743013" cy="170994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7199120">
            <a:off x="-2896988" y="-1002021"/>
            <a:ext cx="5793977" cy="58954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4092396"/>
            <a:ext cx="8115300" cy="2102208"/>
            <a:chOff x="0" y="0"/>
            <a:chExt cx="10820400" cy="2802944"/>
          </a:xfrm>
        </p:grpSpPr>
        <p:sp>
          <p:nvSpPr>
            <p:cNvPr id="3" name="TextBox 3"/>
            <p:cNvSpPr txBox="1"/>
            <p:nvPr/>
          </p:nvSpPr>
          <p:spPr>
            <a:xfrm>
              <a:off x="0" y="-247650"/>
              <a:ext cx="10820400" cy="19348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53"/>
                </a:lnSpc>
                <a:spcBef>
                  <a:spcPct val="0"/>
                </a:spcBef>
              </a:pPr>
              <a:r>
                <a:rPr lang="en-US" sz="8378" b="1" u="non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Agenda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73630"/>
              <a:ext cx="10820400" cy="829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91"/>
                </a:lnSpc>
                <a:spcBef>
                  <a:spcPct val="0"/>
                </a:spcBef>
              </a:pPr>
              <a:r>
                <a:rPr lang="en-US" sz="3351" b="1" u="none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Topics to be Covered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866608" y="1030494"/>
            <a:ext cx="8067643" cy="1014350"/>
            <a:chOff x="0" y="0"/>
            <a:chExt cx="10756857" cy="13524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3122" cy="1352466"/>
            </a:xfrm>
            <a:custGeom>
              <a:avLst/>
              <a:gdLst/>
              <a:ahLst/>
              <a:cxnLst/>
              <a:rect l="l" t="t" r="r" b="b"/>
              <a:pathLst>
                <a:path w="1313122" h="1352466">
                  <a:moveTo>
                    <a:pt x="0" y="0"/>
                  </a:moveTo>
                  <a:lnTo>
                    <a:pt x="1313122" y="0"/>
                  </a:lnTo>
                  <a:lnTo>
                    <a:pt x="1313122" y="1352466"/>
                  </a:lnTo>
                  <a:lnTo>
                    <a:pt x="0" y="13524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1908899" y="156189"/>
              <a:ext cx="8847958" cy="868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05"/>
                </a:lnSpc>
              </a:pPr>
              <a:r>
                <a:rPr lang="en-US" sz="350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Introduction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0329" y="444409"/>
              <a:ext cx="492463" cy="3969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9"/>
                </a:lnSpc>
              </a:pPr>
              <a:r>
                <a:rPr lang="en-US" sz="1635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66608" y="2406794"/>
            <a:ext cx="8033060" cy="2372962"/>
            <a:chOff x="0" y="0"/>
            <a:chExt cx="10710746" cy="3163949"/>
          </a:xfrm>
        </p:grpSpPr>
        <p:sp>
          <p:nvSpPr>
            <p:cNvPr id="10" name="TextBox 10"/>
            <p:cNvSpPr txBox="1"/>
            <p:nvPr/>
          </p:nvSpPr>
          <p:spPr>
            <a:xfrm>
              <a:off x="1811602" y="-171450"/>
              <a:ext cx="8899144" cy="33353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33"/>
                </a:lnSpc>
              </a:pPr>
              <a:r>
                <a:rPr lang="en-US" sz="352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Types of Errors</a:t>
              </a:r>
            </a:p>
            <a:p>
              <a:pPr marL="557992" lvl="1" indent="-278996" algn="l">
                <a:lnSpc>
                  <a:spcPts val="3618"/>
                </a:lnSpc>
                <a:buFont typeface="Arial"/>
                <a:buChar char="•"/>
              </a:pPr>
              <a:r>
                <a:rPr lang="en-US" sz="258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Logical Errors</a:t>
              </a:r>
            </a:p>
            <a:p>
              <a:pPr marL="557992" lvl="1" indent="-278996" algn="l">
                <a:lnSpc>
                  <a:spcPts val="3618"/>
                </a:lnSpc>
                <a:buFont typeface="Arial"/>
                <a:buChar char="•"/>
              </a:pPr>
              <a:r>
                <a:rPr lang="en-US" sz="258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Syntax Errors</a:t>
              </a:r>
            </a:p>
            <a:p>
              <a:pPr marL="557992" lvl="1" indent="-278996" algn="l">
                <a:lnSpc>
                  <a:spcPts val="3618"/>
                </a:lnSpc>
                <a:buFont typeface="Arial"/>
                <a:buChar char="•"/>
              </a:pPr>
              <a:r>
                <a:rPr lang="en-US" sz="258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Runtime Errors</a:t>
              </a:r>
            </a:p>
            <a:p>
              <a:pPr marL="557992" lvl="1" indent="-278996" algn="l">
                <a:lnSpc>
                  <a:spcPts val="3618"/>
                </a:lnSpc>
                <a:buFont typeface="Arial"/>
                <a:buChar char="•"/>
              </a:pPr>
              <a:r>
                <a:rPr lang="en-US" sz="2584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Semantic Errors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221684"/>
              <a:ext cx="1320718" cy="1360290"/>
            </a:xfrm>
            <a:custGeom>
              <a:avLst/>
              <a:gdLst/>
              <a:ahLst/>
              <a:cxnLst/>
              <a:rect l="l" t="t" r="r" b="b"/>
              <a:pathLst>
                <a:path w="1320718" h="1360290">
                  <a:moveTo>
                    <a:pt x="0" y="0"/>
                  </a:moveTo>
                  <a:lnTo>
                    <a:pt x="1320718" y="0"/>
                  </a:lnTo>
                  <a:lnTo>
                    <a:pt x="1320718" y="1360290"/>
                  </a:lnTo>
                  <a:lnTo>
                    <a:pt x="0" y="1360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412703" y="659524"/>
              <a:ext cx="495312" cy="4084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02"/>
                </a:lnSpc>
              </a:pPr>
              <a:r>
                <a:rPr lang="en-US" sz="164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66608" y="5276290"/>
            <a:ext cx="7572145" cy="952051"/>
            <a:chOff x="0" y="0"/>
            <a:chExt cx="10096194" cy="1269401"/>
          </a:xfrm>
        </p:grpSpPr>
        <p:sp>
          <p:nvSpPr>
            <p:cNvPr id="14" name="TextBox 14"/>
            <p:cNvSpPr txBox="1"/>
            <p:nvPr/>
          </p:nvSpPr>
          <p:spPr>
            <a:xfrm>
              <a:off x="1791658" y="145591"/>
              <a:ext cx="8304536" cy="816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04"/>
                </a:lnSpc>
              </a:pPr>
              <a:r>
                <a:rPr lang="en-US" sz="328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How to avoid errors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0"/>
              <a:ext cx="1232473" cy="1269401"/>
            </a:xfrm>
            <a:custGeom>
              <a:avLst/>
              <a:gdLst/>
              <a:ahLst/>
              <a:cxnLst/>
              <a:rect l="l" t="t" r="r" b="b"/>
              <a:pathLst>
                <a:path w="1232473" h="1269401">
                  <a:moveTo>
                    <a:pt x="0" y="0"/>
                  </a:moveTo>
                  <a:lnTo>
                    <a:pt x="1232473" y="0"/>
                  </a:lnTo>
                  <a:lnTo>
                    <a:pt x="1232473" y="1269401"/>
                  </a:lnTo>
                  <a:lnTo>
                    <a:pt x="0" y="1269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385128" y="403494"/>
              <a:ext cx="462217" cy="386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53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66608" y="6791270"/>
            <a:ext cx="7572145" cy="952051"/>
            <a:chOff x="0" y="0"/>
            <a:chExt cx="10096194" cy="1269401"/>
          </a:xfrm>
        </p:grpSpPr>
        <p:sp>
          <p:nvSpPr>
            <p:cNvPr id="18" name="TextBox 18"/>
            <p:cNvSpPr txBox="1"/>
            <p:nvPr/>
          </p:nvSpPr>
          <p:spPr>
            <a:xfrm>
              <a:off x="1791658" y="145591"/>
              <a:ext cx="8304536" cy="816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04"/>
                </a:lnSpc>
              </a:pPr>
              <a:r>
                <a:rPr lang="en-US" sz="328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Real life Errors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232473" cy="1269401"/>
            </a:xfrm>
            <a:custGeom>
              <a:avLst/>
              <a:gdLst/>
              <a:ahLst/>
              <a:cxnLst/>
              <a:rect l="l" t="t" r="r" b="b"/>
              <a:pathLst>
                <a:path w="1232473" h="1269401">
                  <a:moveTo>
                    <a:pt x="0" y="0"/>
                  </a:moveTo>
                  <a:lnTo>
                    <a:pt x="1232473" y="0"/>
                  </a:lnTo>
                  <a:lnTo>
                    <a:pt x="1232473" y="1269401"/>
                  </a:lnTo>
                  <a:lnTo>
                    <a:pt x="0" y="1269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385128" y="403494"/>
              <a:ext cx="462217" cy="386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53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66608" y="8446904"/>
            <a:ext cx="7572145" cy="952051"/>
            <a:chOff x="0" y="0"/>
            <a:chExt cx="10096194" cy="1269401"/>
          </a:xfrm>
        </p:grpSpPr>
        <p:sp>
          <p:nvSpPr>
            <p:cNvPr id="22" name="TextBox 22"/>
            <p:cNvSpPr txBox="1"/>
            <p:nvPr/>
          </p:nvSpPr>
          <p:spPr>
            <a:xfrm>
              <a:off x="1791658" y="145591"/>
              <a:ext cx="8304536" cy="8162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04"/>
                </a:lnSpc>
              </a:pPr>
              <a:r>
                <a:rPr lang="en-US" sz="3288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Conclusion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232473" cy="1269401"/>
            </a:xfrm>
            <a:custGeom>
              <a:avLst/>
              <a:gdLst/>
              <a:ahLst/>
              <a:cxnLst/>
              <a:rect l="l" t="t" r="r" b="b"/>
              <a:pathLst>
                <a:path w="1232473" h="1269401">
                  <a:moveTo>
                    <a:pt x="0" y="0"/>
                  </a:moveTo>
                  <a:lnTo>
                    <a:pt x="1232473" y="0"/>
                  </a:lnTo>
                  <a:lnTo>
                    <a:pt x="1232473" y="1269401"/>
                  </a:lnTo>
                  <a:lnTo>
                    <a:pt x="0" y="1269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385128" y="403494"/>
              <a:ext cx="462217" cy="386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534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5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5631284" y="1629650"/>
            <a:ext cx="4235323" cy="7293279"/>
          </a:xfrm>
          <a:custGeom>
            <a:avLst/>
            <a:gdLst/>
            <a:ahLst/>
            <a:cxnLst/>
            <a:rect l="l" t="t" r="r" b="b"/>
            <a:pathLst>
              <a:path w="4235323" h="7293279">
                <a:moveTo>
                  <a:pt x="0" y="0"/>
                </a:moveTo>
                <a:lnTo>
                  <a:pt x="4235324" y="0"/>
                </a:lnTo>
                <a:lnTo>
                  <a:pt x="4235324" y="7293279"/>
                </a:lnTo>
                <a:lnTo>
                  <a:pt x="0" y="7293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64" r="-7364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2511447" y="1028700"/>
            <a:ext cx="19770747" cy="1826254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982979">
            <a:off x="13745547" y="-3705177"/>
            <a:ext cx="5352517" cy="741035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1644060">
            <a:off x="16162306" y="-1063838"/>
            <a:ext cx="5468055" cy="6108040"/>
          </a:xfrm>
          <a:prstGeom prst="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13014230" y="0"/>
            <a:ext cx="3729336" cy="3729336"/>
          </a:xfrm>
          <a:custGeom>
            <a:avLst/>
            <a:gdLst/>
            <a:ahLst/>
            <a:cxnLst/>
            <a:rect l="l" t="t" r="r" b="b"/>
            <a:pathLst>
              <a:path w="3729336" h="3729336">
                <a:moveTo>
                  <a:pt x="0" y="0"/>
                </a:moveTo>
                <a:lnTo>
                  <a:pt x="3729337" y="0"/>
                </a:lnTo>
                <a:lnTo>
                  <a:pt x="3729337" y="3729336"/>
                </a:lnTo>
                <a:lnTo>
                  <a:pt x="0" y="3729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73320" y="3653136"/>
            <a:ext cx="16741360" cy="4537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9"/>
              </a:lnSpc>
            </a:pPr>
            <a:r>
              <a:rPr lang="en-US" sz="422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C programs may contain syntax, logical, run time, and semantic errors that affect correctness and reliability.</a:t>
            </a:r>
          </a:p>
          <a:p>
            <a:pPr algn="l">
              <a:lnSpc>
                <a:spcPts val="5909"/>
              </a:lnSpc>
            </a:pPr>
            <a:endParaRPr lang="en-US" sz="4220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909"/>
              </a:lnSpc>
            </a:pPr>
            <a:r>
              <a:rPr lang="en-US" sz="422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This study aims to :</a:t>
            </a:r>
          </a:p>
          <a:p>
            <a:pPr algn="ctr">
              <a:lnSpc>
                <a:spcPts val="6332"/>
              </a:lnSpc>
            </a:pPr>
            <a:r>
              <a:rPr lang="en-US" sz="452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“ </a:t>
            </a:r>
            <a:r>
              <a:rPr lang="en-US" sz="4523" b="1" i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Identify the errors and apply appropriate techniques to detect and fix them effectively</a:t>
            </a:r>
            <a:r>
              <a:rPr lang="en-US" sz="4523" i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Italics"/>
                <a:ea typeface="Canva Sans Italics"/>
                <a:cs typeface="Canva Sans Italics"/>
                <a:sym typeface="Canva Sans Italics"/>
              </a:rPr>
              <a:t> 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46006" y="1030062"/>
            <a:ext cx="12386341" cy="14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3203220">
            <a:off x="10055853" y="-265970"/>
            <a:ext cx="11814494" cy="1246186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5741405">
            <a:off x="8316155" y="8504485"/>
            <a:ext cx="4865516" cy="616878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3301019" y="1070573"/>
            <a:ext cx="4514045" cy="3020550"/>
          </a:xfrm>
          <a:custGeom>
            <a:avLst/>
            <a:gdLst/>
            <a:ahLst/>
            <a:cxnLst/>
            <a:rect l="l" t="t" r="r" b="b"/>
            <a:pathLst>
              <a:path w="4514045" h="3020550">
                <a:moveTo>
                  <a:pt x="0" y="0"/>
                </a:moveTo>
                <a:lnTo>
                  <a:pt x="4514045" y="0"/>
                </a:lnTo>
                <a:lnTo>
                  <a:pt x="4514045" y="3020550"/>
                </a:lnTo>
                <a:lnTo>
                  <a:pt x="0" y="3020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45129" y="712792"/>
            <a:ext cx="3855890" cy="3855890"/>
          </a:xfrm>
          <a:custGeom>
            <a:avLst/>
            <a:gdLst/>
            <a:ahLst/>
            <a:cxnLst/>
            <a:rect l="l" t="t" r="r" b="b"/>
            <a:pathLst>
              <a:path w="3855890" h="3855890">
                <a:moveTo>
                  <a:pt x="0" y="0"/>
                </a:moveTo>
                <a:lnTo>
                  <a:pt x="3855890" y="0"/>
                </a:lnTo>
                <a:lnTo>
                  <a:pt x="3855890" y="3855891"/>
                </a:lnTo>
                <a:lnTo>
                  <a:pt x="0" y="38558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66398"/>
            <a:ext cx="7729865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59"/>
              </a:lnSpc>
              <a:spcBef>
                <a:spcPct val="0"/>
              </a:spcBef>
            </a:pPr>
            <a:r>
              <a:rPr lang="en-US" sz="72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2936" y="3257123"/>
            <a:ext cx="17815064" cy="131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84"/>
              </a:lnSpc>
            </a:pPr>
            <a:r>
              <a:rPr lang="en-US" sz="3488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IS A C PROGRAM ?</a:t>
            </a:r>
          </a:p>
          <a:p>
            <a:pPr algn="l">
              <a:lnSpc>
                <a:spcPts val="4884"/>
              </a:lnSpc>
              <a:spcBef>
                <a:spcPct val="0"/>
              </a:spcBef>
            </a:pPr>
            <a:r>
              <a:rPr lang="en-US" sz="3488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                      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50452" y="4406758"/>
            <a:ext cx="15064612" cy="131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3230" lvl="1" indent="-376615" algn="l">
              <a:lnSpc>
                <a:spcPts val="4884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It is a set of instructions written in C to perform a task.</a:t>
            </a:r>
          </a:p>
          <a:p>
            <a:pPr marL="753230" lvl="1" indent="-376615" algn="l">
              <a:lnSpc>
                <a:spcPts val="4884"/>
              </a:lnSpc>
              <a:buFont typeface="Arial"/>
              <a:buChar char="•"/>
            </a:pPr>
            <a:r>
              <a:rPr lang="en-US" sz="348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It starts from the main() function and is compiled before execution.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0452" y="7229144"/>
            <a:ext cx="16230600" cy="2402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0051" lvl="1" indent="-355025" algn="l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It is a mistake in a program that causes it to produce wrong results or stop working. </a:t>
            </a:r>
          </a:p>
          <a:p>
            <a:pPr marL="710051" lvl="1" indent="-355025" algn="l">
              <a:lnSpc>
                <a:spcPts val="4604"/>
              </a:lnSpc>
              <a:buFont typeface="Arial"/>
              <a:buChar char="•"/>
            </a:pPr>
            <a:r>
              <a:rPr lang="en-US" sz="328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Errors can occur during compilation or while the program is running.</a:t>
            </a:r>
          </a:p>
          <a:p>
            <a:pPr algn="l">
              <a:lnSpc>
                <a:spcPts val="4604"/>
              </a:lnSpc>
              <a:spcBef>
                <a:spcPct val="0"/>
              </a:spcBef>
            </a:pPr>
            <a:endParaRPr lang="en-US" sz="3288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72936" y="6164812"/>
            <a:ext cx="11145996" cy="185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4"/>
              </a:lnSpc>
            </a:pPr>
            <a:r>
              <a:rPr lang="en-US" sz="3488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WHAT ARE ERRORS ?</a:t>
            </a:r>
          </a:p>
          <a:p>
            <a:pPr algn="l">
              <a:lnSpc>
                <a:spcPts val="4604"/>
              </a:lnSpc>
              <a:spcBef>
                <a:spcPct val="0"/>
              </a:spcBef>
            </a:pPr>
            <a:r>
              <a:rPr lang="en-US" sz="328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.</a:t>
            </a:r>
          </a:p>
          <a:p>
            <a:pPr algn="l">
              <a:lnSpc>
                <a:spcPts val="4604"/>
              </a:lnSpc>
              <a:spcBef>
                <a:spcPct val="0"/>
              </a:spcBef>
            </a:pPr>
            <a:endParaRPr lang="en-US" sz="3288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3391" y="2874441"/>
            <a:ext cx="13179901" cy="418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2"/>
              </a:lnSpc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A logical error occurs when a program:</a:t>
            </a:r>
          </a:p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Compiles successfully</a:t>
            </a:r>
          </a:p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Runs without crashing</a:t>
            </a:r>
          </a:p>
          <a:p>
            <a:pPr marL="834753" lvl="1" indent="-417376" algn="l">
              <a:lnSpc>
                <a:spcPts val="5412"/>
              </a:lnSpc>
              <a:buFont typeface="Arial"/>
              <a:buChar char="•"/>
            </a:pPr>
            <a:r>
              <a:rPr lang="en-US" sz="38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But produces incorrect output</a:t>
            </a:r>
          </a:p>
          <a:p>
            <a:pPr algn="l">
              <a:lnSpc>
                <a:spcPts val="5552"/>
              </a:lnSpc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The compiler (e.g., GCC) does not detect logical errors.</a:t>
            </a:r>
          </a:p>
          <a:p>
            <a:pPr algn="l">
              <a:lnSpc>
                <a:spcPts val="5552"/>
              </a:lnSpc>
            </a:pPr>
            <a:endParaRPr lang="en-US" sz="3966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144000" y="6859837"/>
            <a:ext cx="8863304" cy="2398463"/>
          </a:xfrm>
          <a:custGeom>
            <a:avLst/>
            <a:gdLst/>
            <a:ahLst/>
            <a:cxnLst/>
            <a:rect l="l" t="t" r="r" b="b"/>
            <a:pathLst>
              <a:path w="8863304" h="2398463">
                <a:moveTo>
                  <a:pt x="0" y="0"/>
                </a:moveTo>
                <a:lnTo>
                  <a:pt x="8863304" y="0"/>
                </a:lnTo>
                <a:lnTo>
                  <a:pt x="8863304" y="2398463"/>
                </a:lnTo>
                <a:lnTo>
                  <a:pt x="0" y="2398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96" t="-15876" r="-7268" b="-1679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068301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LOGICAL ERRORS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55016" y="3831570"/>
            <a:ext cx="6304284" cy="973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95"/>
              </a:lnSpc>
              <a:spcBef>
                <a:spcPct val="0"/>
              </a:spcBef>
            </a:pPr>
            <a:r>
              <a:rPr lang="en-US" sz="4925" b="1">
                <a:solidFill>
                  <a:srgbClr val="FF3131"/>
                </a:solidFill>
                <a:latin typeface="Agrandir Bold"/>
                <a:ea typeface="Agrandir Bold"/>
                <a:cs typeface="Agrandir Bold"/>
                <a:sym typeface="Agrandir Bold"/>
              </a:rPr>
              <a:t>TRICKIEST KIND !!!!!!!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3391" y="6804913"/>
            <a:ext cx="8294648" cy="1912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3"/>
              </a:lnSpc>
              <a:spcBef>
                <a:spcPct val="0"/>
              </a:spcBef>
            </a:pPr>
            <a:r>
              <a:rPr lang="en-US" sz="3445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 Bold"/>
                <a:ea typeface="Agrandir Bold"/>
                <a:cs typeface="Agrandir Bold"/>
                <a:sym typeface="Agrandir Bold"/>
              </a:rPr>
              <a:t>the compiler can’t detect these, it’s up to the programmer to find them by manually testing and debugging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31794"/>
            <a:ext cx="4814094" cy="254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86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1] Using </a:t>
            </a:r>
            <a:r>
              <a:rPr lang="en-US" sz="3490" b="1" i="1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=  </a:t>
            </a:r>
            <a:r>
              <a:rPr lang="en-US" sz="349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instead of </a:t>
            </a:r>
            <a:r>
              <a:rPr lang="en-US" sz="3490" b="1" i="1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 ==</a:t>
            </a:r>
          </a:p>
          <a:p>
            <a:pPr algn="just">
              <a:lnSpc>
                <a:spcPts val="4886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If (a = 10)   </a:t>
            </a:r>
            <a:r>
              <a:rPr lang="en-US" sz="3490" b="1" i="1">
                <a:solidFill>
                  <a:srgbClr val="FF313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//</a:t>
            </a:r>
            <a:r>
              <a:rPr lang="en-US" sz="3490" i="1">
                <a:solidFill>
                  <a:srgbClr val="000000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</a:t>
            </a:r>
            <a:r>
              <a:rPr lang="en-US" sz="3490" b="1" i="1">
                <a:solidFill>
                  <a:srgbClr val="FF3131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Wrong</a:t>
            </a:r>
          </a:p>
          <a:p>
            <a:pPr algn="just">
              <a:lnSpc>
                <a:spcPts val="4886"/>
              </a:lnSpc>
              <a:spcBef>
                <a:spcPct val="0"/>
              </a:spcBef>
            </a:pPr>
            <a:r>
              <a:rPr lang="en-US" sz="3490" b="1">
                <a:solidFill>
                  <a:srgbClr val="00BF63"/>
                </a:solidFill>
                <a:latin typeface="Agrandir Bold"/>
                <a:ea typeface="Agrandir Bold"/>
                <a:cs typeface="Agrandir Bold"/>
                <a:sym typeface="Agrandir Bold"/>
              </a:rPr>
              <a:t>✔</a:t>
            </a:r>
            <a:r>
              <a:rPr lang="en-US" sz="349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Instead Use: </a:t>
            </a:r>
          </a:p>
          <a:p>
            <a:pPr algn="just">
              <a:lnSpc>
                <a:spcPts val="4886"/>
              </a:lnSpc>
              <a:spcBef>
                <a:spcPct val="0"/>
              </a:spcBef>
            </a:pPr>
            <a:r>
              <a:rPr lang="en-US" sz="349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if (a == 10)  </a:t>
            </a:r>
            <a:r>
              <a:rPr lang="en-US" sz="3490" b="1" i="1">
                <a:solidFill>
                  <a:srgbClr val="00BF63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//Correct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96785" y="347344"/>
            <a:ext cx="14608218" cy="121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39"/>
              </a:lnSpc>
            </a:pPr>
            <a:r>
              <a:rPr lang="en-US" sz="70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Common Logical Errors in 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975532"/>
            <a:ext cx="6989564" cy="368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3] </a:t>
            </a:r>
            <a:r>
              <a:rPr lang="en-US" sz="3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Infinite Loop</a:t>
            </a: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(Missing Update)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while(i &lt; 5) {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printf("%d", i);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  <a:p>
            <a:pPr algn="just">
              <a:lnSpc>
                <a:spcPts val="4899"/>
              </a:lnSpc>
            </a:pPr>
            <a:r>
              <a:rPr lang="en-US" sz="3499" b="1" i="1">
                <a:solidFill>
                  <a:srgbClr val="00BF6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✔</a:t>
            </a:r>
            <a:r>
              <a:rPr lang="en-US" sz="34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 After fixing, add:</a:t>
            </a:r>
          </a:p>
          <a:p>
            <a:pPr algn="just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i++;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64935" y="2172769"/>
            <a:ext cx="8094365" cy="2970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83"/>
              </a:lnSpc>
            </a:pPr>
            <a:r>
              <a:rPr lang="en-US" sz="34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2] </a:t>
            </a:r>
            <a:r>
              <a:rPr lang="en-US" sz="34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Incorrect Formula Implementation</a:t>
            </a:r>
          </a:p>
          <a:p>
            <a:pPr algn="just">
              <a:lnSpc>
                <a:spcPts val="4783"/>
              </a:lnSpc>
            </a:pPr>
            <a:r>
              <a:rPr lang="en-US" sz="341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Wrong:</a:t>
            </a:r>
          </a:p>
          <a:p>
            <a:pPr algn="just">
              <a:lnSpc>
                <a:spcPts val="4783"/>
              </a:lnSpc>
            </a:pPr>
            <a:r>
              <a:rPr lang="en-US" sz="34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area = 2 * 3.14 * r * r;   </a:t>
            </a:r>
            <a:r>
              <a:rPr lang="en-US" sz="3417" b="1" i="1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 Wrong formula</a:t>
            </a:r>
          </a:p>
          <a:p>
            <a:pPr algn="just">
              <a:lnSpc>
                <a:spcPts val="4783"/>
              </a:lnSpc>
            </a:pPr>
            <a:r>
              <a:rPr lang="en-US" sz="3417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After fixing:</a:t>
            </a:r>
          </a:p>
          <a:p>
            <a:pPr algn="just">
              <a:lnSpc>
                <a:spcPts val="4783"/>
              </a:lnSpc>
            </a:pPr>
            <a:r>
              <a:rPr lang="en-US" sz="34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area = 3.14 * r * r;  </a:t>
            </a:r>
            <a:r>
              <a:rPr lang="en-US" sz="3417" b="1" i="1">
                <a:solidFill>
                  <a:srgbClr val="00BF6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//Correct</a:t>
            </a:r>
          </a:p>
        </p:txBody>
      </p:sp>
      <p:sp>
        <p:nvSpPr>
          <p:cNvPr id="8" name="Freeform 8"/>
          <p:cNvSpPr/>
          <p:nvPr/>
        </p:nvSpPr>
        <p:spPr>
          <a:xfrm>
            <a:off x="12205058" y="5457194"/>
            <a:ext cx="5054242" cy="4201339"/>
          </a:xfrm>
          <a:custGeom>
            <a:avLst/>
            <a:gdLst/>
            <a:ahLst/>
            <a:cxnLst/>
            <a:rect l="l" t="t" r="r" b="b"/>
            <a:pathLst>
              <a:path w="5054242" h="4201339">
                <a:moveTo>
                  <a:pt x="0" y="0"/>
                </a:moveTo>
                <a:lnTo>
                  <a:pt x="5054242" y="0"/>
                </a:lnTo>
                <a:lnTo>
                  <a:pt x="5054242" y="4201338"/>
                </a:lnTo>
                <a:lnTo>
                  <a:pt x="0" y="4201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4012687"/>
            <a:ext cx="17259300" cy="486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Use print statements or a debugger to track variable values during execution.</a:t>
            </a:r>
          </a:p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Break down your logic into smaller chunks to test individually.</a:t>
            </a:r>
          </a:p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Write unit tests to check if functions give expected outputs.</a:t>
            </a:r>
          </a:p>
          <a:p>
            <a:pPr marL="856342" lvl="1" indent="-428171" algn="l">
              <a:lnSpc>
                <a:spcPts val="5552"/>
              </a:lnSpc>
              <a:buFont typeface="Arial"/>
              <a:buChar char="•"/>
            </a:pPr>
            <a:r>
              <a:rPr lang="en-US" sz="39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Perform code reviews or explain your code logic to someone else (“rubber duck debugging”).</a:t>
            </a:r>
          </a:p>
          <a:p>
            <a:pPr algn="l">
              <a:lnSpc>
                <a:spcPts val="5552"/>
              </a:lnSpc>
            </a:pPr>
            <a:endParaRPr lang="en-US" sz="3966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737373">
                      <a:alpha val="100000"/>
                    </a:srgbClr>
                  </a:gs>
                </a:gsLst>
                <a:lin ang="0"/>
              </a:gra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69887" y="0"/>
            <a:ext cx="4140828" cy="4062041"/>
          </a:xfrm>
          <a:custGeom>
            <a:avLst/>
            <a:gdLst/>
            <a:ahLst/>
            <a:cxnLst/>
            <a:rect l="l" t="t" r="r" b="b"/>
            <a:pathLst>
              <a:path w="4140828" h="4062041">
                <a:moveTo>
                  <a:pt x="0" y="0"/>
                </a:moveTo>
                <a:lnTo>
                  <a:pt x="4140828" y="0"/>
                </a:lnTo>
                <a:lnTo>
                  <a:pt x="4140828" y="4062041"/>
                </a:lnTo>
                <a:lnTo>
                  <a:pt x="0" y="40620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3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44901" y="1311883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 i="1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FIXING APPROACH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9837995" y="4859221"/>
            <a:ext cx="7421305" cy="4924380"/>
          </a:xfrm>
          <a:custGeom>
            <a:avLst/>
            <a:gdLst/>
            <a:ahLst/>
            <a:cxnLst/>
            <a:rect l="l" t="t" r="r" b="b"/>
            <a:pathLst>
              <a:path w="7421305" h="4924380">
                <a:moveTo>
                  <a:pt x="0" y="0"/>
                </a:moveTo>
                <a:lnTo>
                  <a:pt x="7421305" y="0"/>
                </a:lnTo>
                <a:lnTo>
                  <a:pt x="7421305" y="4924380"/>
                </a:lnTo>
                <a:lnTo>
                  <a:pt x="0" y="4924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49" t="-7633" r="-1451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7547" y="2086112"/>
            <a:ext cx="16121077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an </a:t>
            </a: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www.geeksforgeeks.org/cpp/errors-in-cc/"/>
              </a:rPr>
              <a:t>error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a program that occurs while the program is running after being successfully compiled.   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are not detected during compilation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program compiles successfully but crashes or behaves unexpectedly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21677"/>
            <a:ext cx="9398198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69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RUN TIME ERRORS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87468" y="5089265"/>
            <a:ext cx="6246495" cy="545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</a:t>
            </a:r>
            <a:r>
              <a:rPr lang="en-US" sz="3465" b="1" i="1" u="sng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CAUSES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Division by zero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Accessing invalid memory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Infinite loops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Stack overflow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File not found</a:t>
            </a:r>
          </a:p>
          <a:p>
            <a:pPr marL="748124" lvl="1" indent="-374062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Invalid user input</a:t>
            </a:r>
          </a:p>
          <a:p>
            <a:pPr algn="l">
              <a:lnSpc>
                <a:spcPts val="4851"/>
              </a:lnSpc>
            </a:pPr>
            <a:endParaRPr lang="en-US" sz="346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851"/>
              </a:lnSpc>
              <a:spcBef>
                <a:spcPct val="0"/>
              </a:spcBef>
            </a:pPr>
            <a:endParaRPr lang="en-US" sz="346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307729" y="599020"/>
            <a:ext cx="4951571" cy="117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8"/>
              </a:lnSpc>
            </a:pPr>
            <a:r>
              <a:rPr lang="en-US" sz="342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PROGRAM EXECUTION </a:t>
            </a:r>
          </a:p>
          <a:p>
            <a:pPr algn="ctr">
              <a:lnSpc>
                <a:spcPts val="4788"/>
              </a:lnSpc>
              <a:spcBef>
                <a:spcPct val="0"/>
              </a:spcBef>
            </a:pPr>
            <a:r>
              <a:rPr lang="en-US" sz="342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PROBLEMS!!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77437" y="1630995"/>
            <a:ext cx="11343521" cy="8371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3"/>
              </a:lnSpc>
            </a:pPr>
            <a:endParaRPr/>
          </a:p>
          <a:p>
            <a:pPr algn="just">
              <a:lnSpc>
                <a:spcPts val="4793"/>
              </a:lnSpc>
            </a:pPr>
            <a:r>
              <a:rPr lang="en-US" sz="34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Division by Zero</a:t>
            </a:r>
          </a:p>
          <a:p>
            <a:pPr algn="just">
              <a:lnSpc>
                <a:spcPts val="4793"/>
              </a:lnSpc>
            </a:pPr>
            <a:r>
              <a:rPr lang="en-US" sz="34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Trying to divide a number by 0.</a:t>
            </a:r>
          </a:p>
          <a:p>
            <a:pPr algn="just">
              <a:lnSpc>
                <a:spcPts val="4793"/>
              </a:lnSpc>
            </a:pPr>
            <a:r>
              <a:rPr lang="en-US" sz="34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Example: a = 10 / 0;</a:t>
            </a:r>
          </a:p>
          <a:p>
            <a:pPr algn="just">
              <a:lnSpc>
                <a:spcPts val="4793"/>
              </a:lnSpc>
            </a:pPr>
            <a:endParaRPr lang="en-US" sz="34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93"/>
              </a:lnSpc>
            </a:pPr>
            <a:r>
              <a:rPr lang="en-US" sz="34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2. Null Pointer Dereferencing</a:t>
            </a:r>
          </a:p>
          <a:p>
            <a:pPr algn="just">
              <a:lnSpc>
                <a:spcPts val="4793"/>
              </a:lnSpc>
            </a:pPr>
            <a:r>
              <a:rPr lang="en-US" sz="34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Using a pointer that is not initialized or is NULL.</a:t>
            </a:r>
          </a:p>
          <a:p>
            <a:pPr algn="just">
              <a:lnSpc>
                <a:spcPts val="4793"/>
              </a:lnSpc>
            </a:pPr>
            <a:endParaRPr lang="en-US" sz="34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93"/>
              </a:lnSpc>
            </a:pPr>
            <a:r>
              <a:rPr lang="en-US" sz="34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3. Array Index Out of Bounds</a:t>
            </a:r>
          </a:p>
          <a:p>
            <a:pPr algn="just">
              <a:lnSpc>
                <a:spcPts val="4793"/>
              </a:lnSpc>
            </a:pPr>
            <a:r>
              <a:rPr lang="en-US" sz="34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Accessing an array element outside its size.</a:t>
            </a:r>
          </a:p>
          <a:p>
            <a:pPr algn="just">
              <a:lnSpc>
                <a:spcPts val="4793"/>
              </a:lnSpc>
            </a:pPr>
            <a:r>
              <a:rPr lang="en-US" sz="34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Example: arr[10] when size is 5.</a:t>
            </a:r>
          </a:p>
          <a:p>
            <a:pPr algn="just">
              <a:lnSpc>
                <a:spcPts val="4793"/>
              </a:lnSpc>
            </a:pPr>
            <a:endParaRPr lang="en-US" sz="34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93"/>
              </a:lnSpc>
            </a:pPr>
            <a:endParaRPr lang="en-US" sz="34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93"/>
              </a:lnSpc>
            </a:pPr>
            <a:endParaRPr lang="en-US" sz="34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204599" y="5143500"/>
            <a:ext cx="5367262" cy="4461537"/>
          </a:xfrm>
          <a:custGeom>
            <a:avLst/>
            <a:gdLst/>
            <a:ahLst/>
            <a:cxnLst/>
            <a:rect l="l" t="t" r="r" b="b"/>
            <a:pathLst>
              <a:path w="5367262" h="4461537">
                <a:moveTo>
                  <a:pt x="0" y="0"/>
                </a:moveTo>
                <a:lnTo>
                  <a:pt x="5367262" y="0"/>
                </a:lnTo>
                <a:lnTo>
                  <a:pt x="5367262" y="4461537"/>
                </a:lnTo>
                <a:lnTo>
                  <a:pt x="0" y="44615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7437" y="544513"/>
            <a:ext cx="14310793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Common Run Time Errors in 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7437" y="8821760"/>
            <a:ext cx="8814911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4. Infinite Loop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Loop condition never becomes false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28816" y="2312920"/>
            <a:ext cx="8272906" cy="4170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8"/>
              </a:lnSpc>
            </a:pPr>
            <a:r>
              <a:rPr lang="en-US" sz="342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Stack Overflow</a:t>
            </a:r>
          </a:p>
          <a:p>
            <a:pPr algn="l">
              <a:lnSpc>
                <a:spcPts val="4788"/>
              </a:lnSpc>
            </a:pPr>
            <a:r>
              <a:rPr lang="en-US" sz="34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Too many recursive function</a:t>
            </a:r>
          </a:p>
          <a:p>
            <a:pPr algn="l">
              <a:lnSpc>
                <a:spcPts val="4788"/>
              </a:lnSpc>
            </a:pPr>
            <a:r>
              <a:rPr lang="en-US" sz="34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calls.</a:t>
            </a:r>
          </a:p>
          <a:p>
            <a:pPr algn="l">
              <a:lnSpc>
                <a:spcPts val="4788"/>
              </a:lnSpc>
            </a:pPr>
            <a:endParaRPr lang="en-US" sz="342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88"/>
              </a:lnSpc>
            </a:pPr>
            <a:endParaRPr lang="en-US" sz="342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88"/>
              </a:lnSpc>
            </a:pPr>
            <a:endParaRPr lang="en-US" sz="342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4788"/>
              </a:lnSpc>
              <a:spcBef>
                <a:spcPct val="0"/>
              </a:spcBef>
            </a:pPr>
            <a:endParaRPr lang="en-US" sz="342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 rot="9720163">
            <a:off x="12600387" y="-3298660"/>
            <a:ext cx="8670039" cy="865472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-4810715" y="2950641"/>
            <a:ext cx="9621431" cy="978993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910306" y="885825"/>
            <a:ext cx="11251835" cy="122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21"/>
              </a:lnSpc>
            </a:pPr>
            <a:r>
              <a:rPr lang="en-US" sz="7086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FIXING APPROACH</a:t>
            </a:r>
          </a:p>
        </p:txBody>
      </p:sp>
      <p:sp>
        <p:nvSpPr>
          <p:cNvPr id="5" name="Freeform 5"/>
          <p:cNvSpPr/>
          <p:nvPr/>
        </p:nvSpPr>
        <p:spPr>
          <a:xfrm>
            <a:off x="669887" y="0"/>
            <a:ext cx="3685970" cy="3615837"/>
          </a:xfrm>
          <a:custGeom>
            <a:avLst/>
            <a:gdLst/>
            <a:ahLst/>
            <a:cxnLst/>
            <a:rect l="l" t="t" r="r" b="b"/>
            <a:pathLst>
              <a:path w="3685970" h="3615837">
                <a:moveTo>
                  <a:pt x="0" y="0"/>
                </a:moveTo>
                <a:lnTo>
                  <a:pt x="3685970" y="0"/>
                </a:lnTo>
                <a:lnTo>
                  <a:pt x="3685970" y="3615837"/>
                </a:lnTo>
                <a:lnTo>
                  <a:pt x="0" y="3615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3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5110" y="3549162"/>
            <a:ext cx="18042890" cy="5361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5"/>
              </a:lnSpc>
            </a:pPr>
            <a:r>
              <a:rPr lang="en-US" sz="37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 offers basic tools to detect and respond to runtime errors:</a:t>
            </a:r>
          </a:p>
          <a:p>
            <a:pPr algn="l">
              <a:lnSpc>
                <a:spcPts val="5715"/>
              </a:lnSpc>
            </a:pPr>
            <a:endParaRPr lang="en-US" sz="378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16620" lvl="1" indent="-408310" algn="l">
              <a:lnSpc>
                <a:spcPts val="5295"/>
              </a:lnSpc>
              <a:buFont typeface="Arial"/>
              <a:buChar char="•"/>
            </a:pPr>
            <a:r>
              <a:rPr lang="en-US" sz="378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errno</a:t>
            </a:r>
            <a:r>
              <a:rPr lang="en-US" sz="37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global variable that stores the error code when a library function fails.</a:t>
            </a:r>
          </a:p>
          <a:p>
            <a:pPr marL="816620" lvl="1" indent="-408310" algn="l">
              <a:lnSpc>
                <a:spcPts val="5295"/>
              </a:lnSpc>
              <a:buFont typeface="Arial"/>
              <a:buChar char="•"/>
            </a:pPr>
            <a:r>
              <a:rPr lang="en-US" sz="378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perror()</a:t>
            </a:r>
            <a:r>
              <a:rPr lang="en-US" sz="37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Prints a descriptive error message based on the current value of errno.</a:t>
            </a:r>
          </a:p>
          <a:p>
            <a:pPr marL="816620" lvl="1" indent="-408310" algn="l">
              <a:lnSpc>
                <a:spcPts val="5295"/>
              </a:lnSpc>
              <a:buFont typeface="Arial"/>
              <a:buChar char="•"/>
            </a:pPr>
            <a:r>
              <a:rPr lang="en-US" sz="378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strerror(errno</a:t>
            </a:r>
            <a:r>
              <a:rPr lang="en-US" sz="37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): Returns a string describing the error.</a:t>
            </a:r>
          </a:p>
          <a:p>
            <a:pPr algn="l">
              <a:lnSpc>
                <a:spcPts val="5295"/>
              </a:lnSpc>
              <a:spcBef>
                <a:spcPct val="0"/>
              </a:spcBef>
            </a:pPr>
            <a:endParaRPr lang="en-US" sz="378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2321095"/>
            <a:ext cx="13366595" cy="477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Syntax errors occur when the rules and grammar of the C language are violated (e.g., missing semicolons, incorrect brackets).</a:t>
            </a:r>
          </a:p>
          <a:p>
            <a:pPr algn="l">
              <a:lnSpc>
                <a:spcPts val="5459"/>
              </a:lnSpc>
            </a:pPr>
            <a:r>
              <a:rPr lang="en-US" sz="39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They are detected at compile time by compilers like GCC.</a:t>
            </a:r>
          </a:p>
          <a:p>
            <a:pPr algn="l">
              <a:lnSpc>
                <a:spcPts val="5459"/>
              </a:lnSpc>
            </a:pPr>
            <a:r>
              <a:rPr lang="en-US" sz="39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The program cannot run until all syntax errors are corrected.</a:t>
            </a:r>
          </a:p>
        </p:txBody>
      </p:sp>
      <p:sp>
        <p:nvSpPr>
          <p:cNvPr id="4" name="Freeform 4"/>
          <p:cNvSpPr/>
          <p:nvPr/>
        </p:nvSpPr>
        <p:spPr>
          <a:xfrm>
            <a:off x="8207441" y="6592117"/>
            <a:ext cx="9304975" cy="3115814"/>
          </a:xfrm>
          <a:custGeom>
            <a:avLst/>
            <a:gdLst/>
            <a:ahLst/>
            <a:cxnLst/>
            <a:rect l="l" t="t" r="r" b="b"/>
            <a:pathLst>
              <a:path w="9304975" h="3115814">
                <a:moveTo>
                  <a:pt x="0" y="0"/>
                </a:moveTo>
                <a:lnTo>
                  <a:pt x="9304975" y="0"/>
                </a:lnTo>
                <a:lnTo>
                  <a:pt x="9304975" y="3115814"/>
                </a:lnTo>
                <a:lnTo>
                  <a:pt x="0" y="3115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71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906835" y="704850"/>
            <a:ext cx="723716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SYNTAX ERROR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82233" y="7802480"/>
            <a:ext cx="5802948" cy="145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sz="4184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VIOLATION OF </a:t>
            </a:r>
          </a:p>
          <a:p>
            <a:pPr algn="ctr">
              <a:lnSpc>
                <a:spcPts val="5857"/>
              </a:lnSpc>
              <a:spcBef>
                <a:spcPct val="0"/>
              </a:spcBef>
            </a:pPr>
            <a:r>
              <a:rPr lang="en-US" sz="4184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 LANGUAGE RULES!!!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0786000" y="5636065"/>
            <a:ext cx="4783735" cy="3976480"/>
          </a:xfrm>
          <a:custGeom>
            <a:avLst/>
            <a:gdLst/>
            <a:ahLst/>
            <a:cxnLst/>
            <a:rect l="l" t="t" r="r" b="b"/>
            <a:pathLst>
              <a:path w="4783735" h="3976480">
                <a:moveTo>
                  <a:pt x="0" y="0"/>
                </a:moveTo>
                <a:lnTo>
                  <a:pt x="4783735" y="0"/>
                </a:lnTo>
                <a:lnTo>
                  <a:pt x="4783735" y="3976479"/>
                </a:lnTo>
                <a:lnTo>
                  <a:pt x="0" y="3976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96629" y="643949"/>
            <a:ext cx="12056675" cy="116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19"/>
              </a:lnSpc>
            </a:pPr>
            <a:r>
              <a:rPr lang="en-US" sz="67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Common Syntax Errors in 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81613" y="2661535"/>
            <a:ext cx="7597140" cy="234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1]Missing semicolon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printf("Hello World")  </a:t>
            </a:r>
            <a:r>
              <a:rPr lang="en-US" sz="3899" b="1" i="1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//Wrong</a:t>
            </a:r>
          </a:p>
          <a:p>
            <a:pPr algn="l">
              <a:lnSpc>
                <a:spcPts val="2520"/>
              </a:lnSpc>
            </a:pPr>
            <a:endParaRPr lang="en-US" sz="3899" b="1" i="1">
              <a:solidFill>
                <a:srgbClr val="FF3131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printf("Hello World");  </a:t>
            </a:r>
            <a:r>
              <a:rPr lang="en-US" sz="3899" b="1" i="1">
                <a:solidFill>
                  <a:srgbClr val="00BF6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//Correct</a:t>
            </a: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96676" y="2634230"/>
            <a:ext cx="6378628" cy="240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3]Incorrect Use of Quotes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printf('Hello');  </a:t>
            </a:r>
            <a:r>
              <a:rPr lang="en-US" sz="3999" b="1" i="1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//Wrong</a:t>
            </a:r>
          </a:p>
          <a:p>
            <a:pPr algn="l">
              <a:lnSpc>
                <a:spcPts val="2520"/>
              </a:lnSpc>
            </a:pPr>
            <a:endParaRPr lang="en-US" sz="3999" b="1" i="1">
              <a:solidFill>
                <a:srgbClr val="FF3131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printf("Hello");  </a:t>
            </a:r>
            <a:r>
              <a:rPr lang="en-US" sz="3999" b="1" i="1">
                <a:solidFill>
                  <a:srgbClr val="00BF6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//Correct</a:t>
            </a: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1613" y="5540234"/>
            <a:ext cx="7862387" cy="440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2]Missing Closing Bracket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 main() {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printf("Hello");  </a:t>
            </a:r>
            <a:r>
              <a:rPr lang="en-US" sz="3899" b="1" i="1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//Wrong</a:t>
            </a:r>
          </a:p>
          <a:p>
            <a:pPr algn="l">
              <a:lnSpc>
                <a:spcPts val="2520"/>
              </a:lnSpc>
            </a:pPr>
            <a:endParaRPr lang="en-US" sz="3899" b="1" i="1">
              <a:solidFill>
                <a:srgbClr val="FF3131"/>
              </a:solidFill>
              <a:latin typeface="Canva Sans Bold Italics"/>
              <a:ea typeface="Canva Sans Bold Italics"/>
              <a:cs typeface="Canva Sans Bold Italics"/>
              <a:sym typeface="Canva Sans Bold Italics"/>
            </a:endParaRP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 main() {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printf("Hello");</a:t>
            </a:r>
          </a:p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  </a:t>
            </a:r>
            <a:r>
              <a:rPr lang="en-US" sz="3899" b="1" i="1">
                <a:solidFill>
                  <a:srgbClr val="00BF63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//Correct</a:t>
            </a:r>
            <a:r>
              <a:rPr lang="en-US" sz="3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1425796">
            <a:off x="-4836105" y="-3855776"/>
            <a:ext cx="17005599" cy="1898368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99350" y="1164346"/>
            <a:ext cx="12056675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FIXING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2044" y="3890468"/>
            <a:ext cx="17445956" cy="349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0691" lvl="1" indent="-430346" algn="l">
              <a:lnSpc>
                <a:spcPts val="5581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Always check the compiler error messages. They usually point to the line and type of error.</a:t>
            </a:r>
          </a:p>
          <a:p>
            <a:pPr marL="860691" lvl="1" indent="-430346" algn="l">
              <a:lnSpc>
                <a:spcPts val="5581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an IDE or code editor that highlights syntax errors in real-time.</a:t>
            </a:r>
          </a:p>
          <a:p>
            <a:pPr marL="860691" lvl="1" indent="-430346" algn="l">
              <a:lnSpc>
                <a:spcPts val="5581"/>
              </a:lnSpc>
              <a:buFont typeface="Arial"/>
              <a:buChar char="•"/>
            </a:pPr>
            <a:r>
              <a:rPr lang="en-US" sz="398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Read the code carefully to ensure all language rules are followed.</a:t>
            </a:r>
          </a:p>
          <a:p>
            <a:pPr algn="l">
              <a:lnSpc>
                <a:spcPts val="5581"/>
              </a:lnSpc>
              <a:spcBef>
                <a:spcPct val="0"/>
              </a:spcBef>
            </a:pPr>
            <a:endParaRPr lang="en-US" sz="398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356364" y="0"/>
            <a:ext cx="3685970" cy="3615837"/>
          </a:xfrm>
          <a:custGeom>
            <a:avLst/>
            <a:gdLst/>
            <a:ahLst/>
            <a:cxnLst/>
            <a:rect l="l" t="t" r="r" b="b"/>
            <a:pathLst>
              <a:path w="3685970" h="3615837">
                <a:moveTo>
                  <a:pt x="0" y="0"/>
                </a:moveTo>
                <a:lnTo>
                  <a:pt x="3685971" y="0"/>
                </a:lnTo>
                <a:lnTo>
                  <a:pt x="3685971" y="3615837"/>
                </a:lnTo>
                <a:lnTo>
                  <a:pt x="0" y="3615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39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21370" y="991777"/>
            <a:ext cx="337930" cy="337930"/>
          </a:xfrm>
          <a:custGeom>
            <a:avLst/>
            <a:gdLst/>
            <a:ahLst/>
            <a:cxnLst/>
            <a:rect l="l" t="t" r="r" b="b"/>
            <a:pathLst>
              <a:path w="337930" h="337930">
                <a:moveTo>
                  <a:pt x="0" y="0"/>
                </a:moveTo>
                <a:lnTo>
                  <a:pt x="337930" y="0"/>
                </a:lnTo>
                <a:lnTo>
                  <a:pt x="337930" y="337930"/>
                </a:lnTo>
                <a:lnTo>
                  <a:pt x="0" y="3379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2932469">
            <a:off x="-2458732" y="-2682360"/>
            <a:ext cx="14388035" cy="16061643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3526035" y="5717916"/>
            <a:ext cx="9979783" cy="4064165"/>
          </a:xfrm>
          <a:custGeom>
            <a:avLst/>
            <a:gdLst/>
            <a:ahLst/>
            <a:cxnLst/>
            <a:rect l="l" t="t" r="r" b="b"/>
            <a:pathLst>
              <a:path w="9979783" h="4064165">
                <a:moveTo>
                  <a:pt x="0" y="0"/>
                </a:moveTo>
                <a:lnTo>
                  <a:pt x="9979783" y="0"/>
                </a:lnTo>
                <a:lnTo>
                  <a:pt x="9979783" y="4064165"/>
                </a:lnTo>
                <a:lnTo>
                  <a:pt x="0" y="4064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754320" y="1464709"/>
            <a:ext cx="16336015" cy="3678791"/>
            <a:chOff x="0" y="0"/>
            <a:chExt cx="21781354" cy="490505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0"/>
              <a:ext cx="21781354" cy="160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 b="1">
                  <a:solidFill>
                    <a:srgbClr val="00000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SEMANTIC ERRORS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949554"/>
              <a:ext cx="21781354" cy="2955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it occurs when the statements written in the program are not meaningful in the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       compiler.</a:t>
              </a:r>
            </a:p>
            <a:p>
              <a:pPr algn="l">
                <a:lnSpc>
                  <a:spcPts val="4480"/>
                </a:lnSpc>
              </a:pPr>
              <a:endParaRPr lang="en-US" sz="32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endParaRPr>
            </a:p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 difficult to detect as their syntax is correct but the meaning is wrong.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81011" y="1378984"/>
            <a:ext cx="4840359" cy="82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9"/>
              </a:lnSpc>
              <a:spcBef>
                <a:spcPct val="0"/>
              </a:spcBef>
            </a:pPr>
            <a:r>
              <a:rPr lang="en-US" sz="4878" b="1" i="1">
                <a:solidFill>
                  <a:srgbClr val="FF31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HARD TO FIND!!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2932469">
            <a:off x="-2458732" y="-2682360"/>
            <a:ext cx="14388035" cy="1606164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923285" y="838200"/>
            <a:ext cx="16336015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6999" b="1" i="1">
                <a:solidFill>
                  <a:srgbClr val="000000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Common Semantic Errors in 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9005" y="2610948"/>
            <a:ext cx="12365037" cy="743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0"/>
              </a:lnSpc>
            </a:pPr>
            <a:r>
              <a:rPr lang="en-US" sz="3793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1] Wrong Statement:</a:t>
            </a:r>
          </a:p>
          <a:p>
            <a:pPr algn="l">
              <a:lnSpc>
                <a:spcPts val="5310"/>
              </a:lnSpc>
            </a:pPr>
            <a:endParaRPr lang="en-US" sz="3793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#include &lt;</a:t>
            </a:r>
            <a:r>
              <a:rPr lang="en-US" sz="3793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stdio.h</a:t>
            </a: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void main()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int a, b, c;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793" dirty="0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a + b = c;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// Error; </a:t>
            </a:r>
            <a:r>
              <a:rPr lang="en-US" sz="3793" dirty="0" err="1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Ivalue</a:t>
            </a:r>
            <a:r>
              <a:rPr lang="en-US" sz="3793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 required as left operand of assignment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return 0;</a:t>
            </a:r>
          </a:p>
          <a:p>
            <a:pPr algn="l">
              <a:lnSpc>
                <a:spcPts val="5310"/>
              </a:lnSpc>
            </a:pPr>
            <a:r>
              <a:rPr lang="en-US" sz="379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  <p:sp>
        <p:nvSpPr>
          <p:cNvPr id="5" name="Freeform 5"/>
          <p:cNvSpPr/>
          <p:nvPr/>
        </p:nvSpPr>
        <p:spPr>
          <a:xfrm>
            <a:off x="12285018" y="3076064"/>
            <a:ext cx="4974282" cy="4134872"/>
          </a:xfrm>
          <a:custGeom>
            <a:avLst/>
            <a:gdLst/>
            <a:ahLst/>
            <a:cxnLst/>
            <a:rect l="l" t="t" r="r" b="b"/>
            <a:pathLst>
              <a:path w="4974282" h="4134872">
                <a:moveTo>
                  <a:pt x="0" y="0"/>
                </a:moveTo>
                <a:lnTo>
                  <a:pt x="4974282" y="0"/>
                </a:lnTo>
                <a:lnTo>
                  <a:pt x="4974282" y="4134872"/>
                </a:lnTo>
                <a:lnTo>
                  <a:pt x="0" y="4134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2932469">
            <a:off x="-2287151" y="-3166308"/>
            <a:ext cx="15645914" cy="1746583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96590" y="1448332"/>
            <a:ext cx="10884954" cy="7431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08"/>
              </a:lnSpc>
            </a:pPr>
            <a:r>
              <a:rPr lang="en-US" sz="379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2] Use of non- initialized variable:</a:t>
            </a:r>
          </a:p>
          <a:p>
            <a:pPr algn="l">
              <a:lnSpc>
                <a:spcPts val="5308"/>
              </a:lnSpc>
            </a:pPr>
            <a:endParaRPr lang="en-US" sz="3791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#include &lt;</a:t>
            </a:r>
            <a:r>
              <a:rPr lang="en-US" sz="3791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stdio.h</a:t>
            </a: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 main()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int </a:t>
            </a:r>
            <a:r>
              <a:rPr lang="en-US" sz="3791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;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791" dirty="0" err="1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791" dirty="0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++;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// Error; the variable '</a:t>
            </a:r>
            <a:r>
              <a:rPr lang="en-US" sz="3791" dirty="0" err="1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791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' is not 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initialized.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return 0;</a:t>
            </a:r>
          </a:p>
          <a:p>
            <a:pPr algn="l">
              <a:lnSpc>
                <a:spcPts val="5308"/>
              </a:lnSpc>
            </a:pPr>
            <a:r>
              <a:rPr lang="en-US" sz="379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1448332"/>
            <a:ext cx="8488045" cy="675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37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3] Type </a:t>
            </a:r>
            <a:r>
              <a:rPr lang="en-US" sz="3794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Incompability</a:t>
            </a:r>
            <a:r>
              <a:rPr lang="en-US" sz="37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algn="l">
              <a:lnSpc>
                <a:spcPts val="5311"/>
              </a:lnSpc>
            </a:pPr>
            <a:endParaRPr lang="en-US" sz="3794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#include &lt;</a:t>
            </a:r>
            <a:r>
              <a:rPr lang="en-US" sz="3794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stdio.h</a:t>
            </a: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&gt;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void main()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794" dirty="0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int </a:t>
            </a:r>
            <a:r>
              <a:rPr lang="en-US" sz="3794" dirty="0" err="1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794" dirty="0">
                <a:solidFill>
                  <a:srgbClr val="DCB104"/>
                </a:solidFill>
                <a:latin typeface="Canva Sans"/>
                <a:ea typeface="Canva Sans"/>
                <a:cs typeface="Canva Sans"/>
                <a:sym typeface="Canva Sans"/>
              </a:rPr>
              <a:t> = " Hello";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// Error; cannot convert 'char' to 'int'.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return 0;</a:t>
            </a:r>
          </a:p>
          <a:p>
            <a:pPr algn="l">
              <a:lnSpc>
                <a:spcPts val="5311"/>
              </a:lnSpc>
            </a:pPr>
            <a:r>
              <a:rPr lang="en-US" sz="37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 rot="-2932469">
            <a:off x="-2458732" y="-2682360"/>
            <a:ext cx="14388035" cy="1606164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15663" y="1144343"/>
            <a:ext cx="12056675" cy="119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FIXING APPROACH</a:t>
            </a:r>
          </a:p>
        </p:txBody>
      </p:sp>
      <p:sp>
        <p:nvSpPr>
          <p:cNvPr id="4" name="Freeform 4"/>
          <p:cNvSpPr/>
          <p:nvPr/>
        </p:nvSpPr>
        <p:spPr>
          <a:xfrm>
            <a:off x="1049315" y="0"/>
            <a:ext cx="3685970" cy="3615837"/>
          </a:xfrm>
          <a:custGeom>
            <a:avLst/>
            <a:gdLst/>
            <a:ahLst/>
            <a:cxnLst/>
            <a:rect l="l" t="t" r="r" b="b"/>
            <a:pathLst>
              <a:path w="3685970" h="3615837">
                <a:moveTo>
                  <a:pt x="0" y="0"/>
                </a:moveTo>
                <a:lnTo>
                  <a:pt x="3685971" y="0"/>
                </a:lnTo>
                <a:lnTo>
                  <a:pt x="3685971" y="3615837"/>
                </a:lnTo>
                <a:lnTo>
                  <a:pt x="0" y="3615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3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807097" y="3539637"/>
            <a:ext cx="12726723" cy="398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Understanding</a:t>
            </a: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intended program logic.</a:t>
            </a:r>
          </a:p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 </a:t>
            </a:r>
            <a:r>
              <a:rPr lang="en-US" sz="37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variable declarations</a:t>
            </a: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initializations.</a:t>
            </a:r>
          </a:p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Verify expressions and operators are correct.</a:t>
            </a:r>
          </a:p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Review control structures (if, for, while).</a:t>
            </a:r>
          </a:p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Ensure </a:t>
            </a:r>
            <a:r>
              <a:rPr lang="en-US" sz="379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 calls</a:t>
            </a: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return values are correct.</a:t>
            </a:r>
          </a:p>
          <a:p>
            <a:pPr marL="818962" lvl="1" indent="-409481" algn="l">
              <a:lnSpc>
                <a:spcPts val="5310"/>
              </a:lnSpc>
              <a:buFont typeface="Arial"/>
              <a:buChar char="•"/>
            </a:pPr>
            <a:r>
              <a:rPr lang="en-US" sz="37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Test with different inputs to catch logical mistakes.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2511451" y="1028700"/>
            <a:ext cx="19770751" cy="1826253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 rot="-3982960">
            <a:off x="13745551" y="-3705176"/>
            <a:ext cx="5352514" cy="741035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 rot="-1644077">
            <a:off x="16162301" y="-1063836"/>
            <a:ext cx="5468057" cy="6108036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840440" y="3715119"/>
            <a:ext cx="16607120" cy="4413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62"/>
              </a:lnSpc>
            </a:pPr>
            <a:r>
              <a:rPr lang="en-US" sz="418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"/>
                <a:ea typeface="Canva Sans"/>
                <a:cs typeface="Canva Sans"/>
                <a:sym typeface="Canva Sans"/>
              </a:rPr>
              <a:t>Errors are a natural part of C programming. Understanding syntax, runtime, logical and semantic  errors helps in writing reliable code. Compilers detect compile-time issues, while debugging and testing help fix other errors. Good coding practices and proper error handling improve program efficiency and debugging skills.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6007" y="1191987"/>
            <a:ext cx="9036468" cy="14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</a:blip>
          <a:srcRect/>
          <a:stretch>
            <a:fillRect/>
          </a:stretch>
        </p:blipFill>
        <p:spPr>
          <a:xfrm>
            <a:off x="-1662681" y="-6438340"/>
            <a:ext cx="13761077" cy="1415359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911263" y="3804840"/>
            <a:ext cx="8465475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737373">
                        <a:alpha val="100000"/>
                      </a:srgbClr>
                    </a:gs>
                  </a:gsLst>
                  <a:lin ang="0"/>
                </a:gradFill>
                <a:latin typeface="Agrandir"/>
                <a:ea typeface="Agrandir"/>
                <a:cs typeface="Agrandir"/>
                <a:sym typeface="Agrandir"/>
              </a:rPr>
              <a:t>Thank you!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>
            <a:fillRect/>
          </a:stretch>
        </p:blipFill>
        <p:spPr>
          <a:xfrm>
            <a:off x="11511932" y="6947324"/>
            <a:ext cx="8674222" cy="765225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25000"/>
          </a:blip>
          <a:srcRect/>
          <a:stretch>
            <a:fillRect/>
          </a:stretch>
        </p:blipFill>
        <p:spPr>
          <a:xfrm>
            <a:off x="15141061" y="2810706"/>
            <a:ext cx="6293877" cy="561293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5000"/>
          </a:blip>
          <a:srcRect/>
          <a:stretch>
            <a:fillRect/>
          </a:stretch>
        </p:blipFill>
        <p:spPr>
          <a:xfrm rot="-3435299">
            <a:off x="-3167656" y="638455"/>
            <a:ext cx="6335313" cy="7076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Custom</PresentationFormat>
  <Paragraphs>181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Canva Sans Bold</vt:lpstr>
      <vt:lpstr>Agrandir Bold Italics</vt:lpstr>
      <vt:lpstr>Agrandir Italics</vt:lpstr>
      <vt:lpstr>Agrandir</vt:lpstr>
      <vt:lpstr>Canva Sans Italics</vt:lpstr>
      <vt:lpstr>Alice</vt:lpstr>
      <vt:lpstr>Calibri</vt:lpstr>
      <vt:lpstr>Arial</vt:lpstr>
      <vt:lpstr>Canva Sans Bold Italics</vt:lpstr>
      <vt:lpstr>Agrandir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FOP Project </dc:title>
  <cp:lastModifiedBy>Palak Soni</cp:lastModifiedBy>
  <cp:revision>2</cp:revision>
  <dcterms:created xsi:type="dcterms:W3CDTF">2006-08-16T00:00:00Z</dcterms:created>
  <dcterms:modified xsi:type="dcterms:W3CDTF">2026-04-07T11:48:05Z</dcterms:modified>
  <dc:identifier>DAHBaa-nx7U</dc:identifier>
</cp:coreProperties>
</file>